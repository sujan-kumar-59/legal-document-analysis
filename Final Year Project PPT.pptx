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13"/>
  </p:notesMasterIdLst>
  <p:sldIdLst>
    <p:sldId id="1868" r:id="rId5"/>
    <p:sldId id="1864" r:id="rId6"/>
    <p:sldId id="1846" r:id="rId7"/>
    <p:sldId id="1848" r:id="rId8"/>
    <p:sldId id="1866" r:id="rId9"/>
    <p:sldId id="1849" r:id="rId10"/>
    <p:sldId id="1852" r:id="rId11"/>
    <p:sldId id="1858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387"/>
    <a:srgbClr val="FF2625"/>
    <a:srgbClr val="007788"/>
    <a:srgbClr val="297C2A"/>
    <a:srgbClr val="F69000"/>
    <a:srgbClr val="01C2D1"/>
    <a:srgbClr val="D6D734"/>
    <a:srgbClr val="005C68"/>
    <a:srgbClr val="3B2E58"/>
    <a:srgbClr val="6B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24" autoAdjust="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F3EB01-0D6C-481C-A641-8BAEC37843C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45F967A2-35CA-45D5-A0B2-6F73135B72E9}">
      <dgm:prSet phldrT="[Text]" custT="1"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pPr algn="ctr">
            <a:buNone/>
          </a:pPr>
          <a:r>
            <a:rPr lang="en-IN" sz="1500" b="1" dirty="0"/>
            <a:t>Efficient Analysis</a:t>
          </a:r>
        </a:p>
        <a:p>
          <a:pPr algn="ctr">
            <a:buNone/>
          </a:pPr>
          <a:r>
            <a:rPr lang="en-US" sz="1200" dirty="0"/>
            <a:t>Develop a system that analyzes legal documents efficiently and accurately.</a:t>
          </a:r>
          <a:endParaRPr lang="en-IN" sz="1200" dirty="0"/>
        </a:p>
      </dgm:t>
    </dgm:pt>
    <dgm:pt modelId="{A4D6926A-6F7C-4CC6-B2DE-301F398521DE}" type="parTrans" cxnId="{E1A836A0-0CE3-4787-B089-921C9CAD1F7C}">
      <dgm:prSet/>
      <dgm:spPr/>
      <dgm:t>
        <a:bodyPr/>
        <a:lstStyle/>
        <a:p>
          <a:endParaRPr lang="en-IN"/>
        </a:p>
      </dgm:t>
    </dgm:pt>
    <dgm:pt modelId="{89FC5D20-5144-4939-B93F-CAB5C5102C4D}" type="sibTrans" cxnId="{E1A836A0-0CE3-4787-B089-921C9CAD1F7C}">
      <dgm:prSet/>
      <dgm:spPr/>
      <dgm:t>
        <a:bodyPr/>
        <a:lstStyle/>
        <a:p>
          <a:endParaRPr lang="en-IN"/>
        </a:p>
      </dgm:t>
    </dgm:pt>
    <dgm:pt modelId="{766DCD23-321A-4E87-A8D2-6B59B1AB9C2C}" type="pres">
      <dgm:prSet presAssocID="{1CF3EB01-0D6C-481C-A641-8BAEC37843C3}" presName="linearFlow" presStyleCnt="0">
        <dgm:presLayoutVars>
          <dgm:dir/>
          <dgm:resizeHandles val="exact"/>
        </dgm:presLayoutVars>
      </dgm:prSet>
      <dgm:spPr/>
    </dgm:pt>
    <dgm:pt modelId="{59B18C6E-4990-4E26-84E2-FE5349D528ED}" type="pres">
      <dgm:prSet presAssocID="{45F967A2-35CA-45D5-A0B2-6F73135B72E9}" presName="composite" presStyleCnt="0"/>
      <dgm:spPr/>
    </dgm:pt>
    <dgm:pt modelId="{6C94ED6A-5576-4CDA-9007-0828F48C4FEC}" type="pres">
      <dgm:prSet presAssocID="{45F967A2-35CA-45D5-A0B2-6F73135B72E9}" presName="imgShp" presStyleLbl="fgImgPlace1" presStyleIdx="0" presStyleCnt="1" custLinFactNeighborX="-18062"/>
      <dgm:spPr>
        <a:blipFill>
          <a:blip xmlns:r="http://schemas.openxmlformats.org/officeDocument/2006/relationships" r:embed="rId1"/>
          <a:srcRect/>
          <a:stretch>
            <a:fillRect l="-38000" r="-38000"/>
          </a:stretch>
        </a:blipFill>
      </dgm:spPr>
    </dgm:pt>
    <dgm:pt modelId="{8C1B2E6E-2DBD-4902-9ABB-4493B42F4893}" type="pres">
      <dgm:prSet presAssocID="{45F967A2-35CA-45D5-A0B2-6F73135B72E9}" presName="txShp" presStyleLbl="node1" presStyleIdx="0" presStyleCnt="1" custScaleX="119367" custLinFactNeighborX="1919" custLinFactNeighborY="1642">
        <dgm:presLayoutVars>
          <dgm:bulletEnabled val="1"/>
        </dgm:presLayoutVars>
      </dgm:prSet>
      <dgm:spPr/>
    </dgm:pt>
  </dgm:ptLst>
  <dgm:cxnLst>
    <dgm:cxn modelId="{22819D03-FF14-4BE3-B43C-303A3236A348}" type="presOf" srcId="{1CF3EB01-0D6C-481C-A641-8BAEC37843C3}" destId="{766DCD23-321A-4E87-A8D2-6B59B1AB9C2C}" srcOrd="0" destOrd="0" presId="urn:microsoft.com/office/officeart/2005/8/layout/vList3"/>
    <dgm:cxn modelId="{765A411E-9ED9-4F79-A5B0-B3F49E6D722B}" type="presOf" srcId="{45F967A2-35CA-45D5-A0B2-6F73135B72E9}" destId="{8C1B2E6E-2DBD-4902-9ABB-4493B42F4893}" srcOrd="0" destOrd="0" presId="urn:microsoft.com/office/officeart/2005/8/layout/vList3"/>
    <dgm:cxn modelId="{E1A836A0-0CE3-4787-B089-921C9CAD1F7C}" srcId="{1CF3EB01-0D6C-481C-A641-8BAEC37843C3}" destId="{45F967A2-35CA-45D5-A0B2-6F73135B72E9}" srcOrd="0" destOrd="0" parTransId="{A4D6926A-6F7C-4CC6-B2DE-301F398521DE}" sibTransId="{89FC5D20-5144-4939-B93F-CAB5C5102C4D}"/>
    <dgm:cxn modelId="{71908D34-36D7-4712-B07C-05BFC2EB2241}" type="presParOf" srcId="{766DCD23-321A-4E87-A8D2-6B59B1AB9C2C}" destId="{59B18C6E-4990-4E26-84E2-FE5349D528ED}" srcOrd="0" destOrd="0" presId="urn:microsoft.com/office/officeart/2005/8/layout/vList3"/>
    <dgm:cxn modelId="{4E18ACFA-87C8-4AEE-9A61-61DF3DDFC408}" type="presParOf" srcId="{59B18C6E-4990-4E26-84E2-FE5349D528ED}" destId="{6C94ED6A-5576-4CDA-9007-0828F48C4FEC}" srcOrd="0" destOrd="0" presId="urn:microsoft.com/office/officeart/2005/8/layout/vList3"/>
    <dgm:cxn modelId="{524A99D0-A6F4-4635-9355-F27082177264}" type="presParOf" srcId="{59B18C6E-4990-4E26-84E2-FE5349D528ED}" destId="{8C1B2E6E-2DBD-4902-9ABB-4493B42F489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F3EB01-0D6C-481C-A641-8BAEC37843C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5F967A2-35CA-45D5-A0B2-6F73135B72E9}">
      <dgm:prSet phldrT="[Text]" custT="1"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pPr algn="ctr">
            <a:buNone/>
          </a:pPr>
          <a:r>
            <a:rPr lang="en-IN" sz="1500" b="1" dirty="0"/>
            <a:t>RAG Integration</a:t>
          </a:r>
        </a:p>
        <a:p>
          <a:pPr algn="ctr">
            <a:buNone/>
          </a:pPr>
          <a:r>
            <a:rPr lang="en-US" sz="1200" dirty="0"/>
            <a:t>Improve answer accuracy using Retrieval-Augmented Generation framework.</a:t>
          </a:r>
          <a:endParaRPr lang="en-IN" sz="1200" dirty="0"/>
        </a:p>
      </dgm:t>
    </dgm:pt>
    <dgm:pt modelId="{A4D6926A-6F7C-4CC6-B2DE-301F398521DE}" type="parTrans" cxnId="{E1A836A0-0CE3-4787-B089-921C9CAD1F7C}">
      <dgm:prSet/>
      <dgm:spPr/>
      <dgm:t>
        <a:bodyPr/>
        <a:lstStyle/>
        <a:p>
          <a:endParaRPr lang="en-IN"/>
        </a:p>
      </dgm:t>
    </dgm:pt>
    <dgm:pt modelId="{89FC5D20-5144-4939-B93F-CAB5C5102C4D}" type="sibTrans" cxnId="{E1A836A0-0CE3-4787-B089-921C9CAD1F7C}">
      <dgm:prSet/>
      <dgm:spPr/>
      <dgm:t>
        <a:bodyPr/>
        <a:lstStyle/>
        <a:p>
          <a:endParaRPr lang="en-IN"/>
        </a:p>
      </dgm:t>
    </dgm:pt>
    <dgm:pt modelId="{766DCD23-321A-4E87-A8D2-6B59B1AB9C2C}" type="pres">
      <dgm:prSet presAssocID="{1CF3EB01-0D6C-481C-A641-8BAEC37843C3}" presName="linearFlow" presStyleCnt="0">
        <dgm:presLayoutVars>
          <dgm:dir/>
          <dgm:resizeHandles val="exact"/>
        </dgm:presLayoutVars>
      </dgm:prSet>
      <dgm:spPr/>
    </dgm:pt>
    <dgm:pt modelId="{59B18C6E-4990-4E26-84E2-FE5349D528ED}" type="pres">
      <dgm:prSet presAssocID="{45F967A2-35CA-45D5-A0B2-6F73135B72E9}" presName="composite" presStyleCnt="0"/>
      <dgm:spPr/>
    </dgm:pt>
    <dgm:pt modelId="{6C94ED6A-5576-4CDA-9007-0828F48C4FEC}" type="pres">
      <dgm:prSet presAssocID="{45F967A2-35CA-45D5-A0B2-6F73135B72E9}" presName="imgShp" presStyleLbl="fgImgPlace1" presStyleIdx="0" presStyleCnt="1" custLinFactNeighborX="-18062"/>
      <dgm:spPr>
        <a:blipFill>
          <a:blip xmlns:r="http://schemas.openxmlformats.org/officeDocument/2006/relationships" r:embed="rId1"/>
          <a:srcRect/>
          <a:stretch>
            <a:fillRect l="-38000" r="-38000"/>
          </a:stretch>
        </a:blipFill>
      </dgm:spPr>
    </dgm:pt>
    <dgm:pt modelId="{8C1B2E6E-2DBD-4902-9ABB-4493B42F4893}" type="pres">
      <dgm:prSet presAssocID="{45F967A2-35CA-45D5-A0B2-6F73135B72E9}" presName="txShp" presStyleLbl="node1" presStyleIdx="0" presStyleCnt="1" custScaleX="119367" custLinFactNeighborX="1919" custLinFactNeighborY="1642">
        <dgm:presLayoutVars>
          <dgm:bulletEnabled val="1"/>
        </dgm:presLayoutVars>
      </dgm:prSet>
      <dgm:spPr/>
    </dgm:pt>
  </dgm:ptLst>
  <dgm:cxnLst>
    <dgm:cxn modelId="{22819D03-FF14-4BE3-B43C-303A3236A348}" type="presOf" srcId="{1CF3EB01-0D6C-481C-A641-8BAEC37843C3}" destId="{766DCD23-321A-4E87-A8D2-6B59B1AB9C2C}" srcOrd="0" destOrd="0" presId="urn:microsoft.com/office/officeart/2005/8/layout/vList3"/>
    <dgm:cxn modelId="{765A411E-9ED9-4F79-A5B0-B3F49E6D722B}" type="presOf" srcId="{45F967A2-35CA-45D5-A0B2-6F73135B72E9}" destId="{8C1B2E6E-2DBD-4902-9ABB-4493B42F4893}" srcOrd="0" destOrd="0" presId="urn:microsoft.com/office/officeart/2005/8/layout/vList3"/>
    <dgm:cxn modelId="{E1A836A0-0CE3-4787-B089-921C9CAD1F7C}" srcId="{1CF3EB01-0D6C-481C-A641-8BAEC37843C3}" destId="{45F967A2-35CA-45D5-A0B2-6F73135B72E9}" srcOrd="0" destOrd="0" parTransId="{A4D6926A-6F7C-4CC6-B2DE-301F398521DE}" sibTransId="{89FC5D20-5144-4939-B93F-CAB5C5102C4D}"/>
    <dgm:cxn modelId="{71908D34-36D7-4712-B07C-05BFC2EB2241}" type="presParOf" srcId="{766DCD23-321A-4E87-A8D2-6B59B1AB9C2C}" destId="{59B18C6E-4990-4E26-84E2-FE5349D528ED}" srcOrd="0" destOrd="0" presId="urn:microsoft.com/office/officeart/2005/8/layout/vList3"/>
    <dgm:cxn modelId="{4E18ACFA-87C8-4AEE-9A61-61DF3DDFC408}" type="presParOf" srcId="{59B18C6E-4990-4E26-84E2-FE5349D528ED}" destId="{6C94ED6A-5576-4CDA-9007-0828F48C4FEC}" srcOrd="0" destOrd="0" presId="urn:microsoft.com/office/officeart/2005/8/layout/vList3"/>
    <dgm:cxn modelId="{524A99D0-A6F4-4635-9355-F27082177264}" type="presParOf" srcId="{59B18C6E-4990-4E26-84E2-FE5349D528ED}" destId="{8C1B2E6E-2DBD-4902-9ABB-4493B42F489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F3EB01-0D6C-481C-A641-8BAEC37843C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5F967A2-35CA-45D5-A0B2-6F73135B72E9}">
      <dgm:prSet phldrT="[Text]" custT="1"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pPr algn="ctr">
            <a:buNone/>
          </a:pPr>
          <a:r>
            <a:rPr lang="en-IN" sz="1500" b="1" dirty="0"/>
            <a:t>Smart Q&amp;A</a:t>
          </a:r>
        </a:p>
        <a:p>
          <a:pPr algn="ctr">
            <a:buNone/>
          </a:pPr>
          <a:r>
            <a:rPr lang="en-US" sz="1200" dirty="0"/>
            <a:t>Enable question-answering based on uploaded legal documents using natural language.</a:t>
          </a:r>
          <a:endParaRPr lang="en-IN" sz="1200" dirty="0"/>
        </a:p>
      </dgm:t>
    </dgm:pt>
    <dgm:pt modelId="{A4D6926A-6F7C-4CC6-B2DE-301F398521DE}" type="parTrans" cxnId="{E1A836A0-0CE3-4787-B089-921C9CAD1F7C}">
      <dgm:prSet/>
      <dgm:spPr/>
      <dgm:t>
        <a:bodyPr/>
        <a:lstStyle/>
        <a:p>
          <a:endParaRPr lang="en-IN"/>
        </a:p>
      </dgm:t>
    </dgm:pt>
    <dgm:pt modelId="{89FC5D20-5144-4939-B93F-CAB5C5102C4D}" type="sibTrans" cxnId="{E1A836A0-0CE3-4787-B089-921C9CAD1F7C}">
      <dgm:prSet/>
      <dgm:spPr/>
      <dgm:t>
        <a:bodyPr/>
        <a:lstStyle/>
        <a:p>
          <a:endParaRPr lang="en-IN"/>
        </a:p>
      </dgm:t>
    </dgm:pt>
    <dgm:pt modelId="{766DCD23-321A-4E87-A8D2-6B59B1AB9C2C}" type="pres">
      <dgm:prSet presAssocID="{1CF3EB01-0D6C-481C-A641-8BAEC37843C3}" presName="linearFlow" presStyleCnt="0">
        <dgm:presLayoutVars>
          <dgm:dir/>
          <dgm:resizeHandles val="exact"/>
        </dgm:presLayoutVars>
      </dgm:prSet>
      <dgm:spPr/>
    </dgm:pt>
    <dgm:pt modelId="{59B18C6E-4990-4E26-84E2-FE5349D528ED}" type="pres">
      <dgm:prSet presAssocID="{45F967A2-35CA-45D5-A0B2-6F73135B72E9}" presName="composite" presStyleCnt="0"/>
      <dgm:spPr/>
    </dgm:pt>
    <dgm:pt modelId="{6C94ED6A-5576-4CDA-9007-0828F48C4FEC}" type="pres">
      <dgm:prSet presAssocID="{45F967A2-35CA-45D5-A0B2-6F73135B72E9}" presName="imgShp" presStyleLbl="fgImgPlace1" presStyleIdx="0" presStyleCnt="1" custLinFactNeighborX="-18062"/>
      <dgm:spPr>
        <a:blipFill>
          <a:blip xmlns:r="http://schemas.openxmlformats.org/officeDocument/2006/relationships" r:embed="rId1"/>
          <a:srcRect/>
          <a:stretch>
            <a:fillRect l="-38000" r="-38000"/>
          </a:stretch>
        </a:blipFill>
      </dgm:spPr>
    </dgm:pt>
    <dgm:pt modelId="{8C1B2E6E-2DBD-4902-9ABB-4493B42F4893}" type="pres">
      <dgm:prSet presAssocID="{45F967A2-35CA-45D5-A0B2-6F73135B72E9}" presName="txShp" presStyleLbl="node1" presStyleIdx="0" presStyleCnt="1" custScaleX="119367" custLinFactNeighborX="1919" custLinFactNeighborY="1642">
        <dgm:presLayoutVars>
          <dgm:bulletEnabled val="1"/>
        </dgm:presLayoutVars>
      </dgm:prSet>
      <dgm:spPr/>
    </dgm:pt>
  </dgm:ptLst>
  <dgm:cxnLst>
    <dgm:cxn modelId="{22819D03-FF14-4BE3-B43C-303A3236A348}" type="presOf" srcId="{1CF3EB01-0D6C-481C-A641-8BAEC37843C3}" destId="{766DCD23-321A-4E87-A8D2-6B59B1AB9C2C}" srcOrd="0" destOrd="0" presId="urn:microsoft.com/office/officeart/2005/8/layout/vList3"/>
    <dgm:cxn modelId="{765A411E-9ED9-4F79-A5B0-B3F49E6D722B}" type="presOf" srcId="{45F967A2-35CA-45D5-A0B2-6F73135B72E9}" destId="{8C1B2E6E-2DBD-4902-9ABB-4493B42F4893}" srcOrd="0" destOrd="0" presId="urn:microsoft.com/office/officeart/2005/8/layout/vList3"/>
    <dgm:cxn modelId="{E1A836A0-0CE3-4787-B089-921C9CAD1F7C}" srcId="{1CF3EB01-0D6C-481C-A641-8BAEC37843C3}" destId="{45F967A2-35CA-45D5-A0B2-6F73135B72E9}" srcOrd="0" destOrd="0" parTransId="{A4D6926A-6F7C-4CC6-B2DE-301F398521DE}" sibTransId="{89FC5D20-5144-4939-B93F-CAB5C5102C4D}"/>
    <dgm:cxn modelId="{71908D34-36D7-4712-B07C-05BFC2EB2241}" type="presParOf" srcId="{766DCD23-321A-4E87-A8D2-6B59B1AB9C2C}" destId="{59B18C6E-4990-4E26-84E2-FE5349D528ED}" srcOrd="0" destOrd="0" presId="urn:microsoft.com/office/officeart/2005/8/layout/vList3"/>
    <dgm:cxn modelId="{4E18ACFA-87C8-4AEE-9A61-61DF3DDFC408}" type="presParOf" srcId="{59B18C6E-4990-4E26-84E2-FE5349D528ED}" destId="{6C94ED6A-5576-4CDA-9007-0828F48C4FEC}" srcOrd="0" destOrd="0" presId="urn:microsoft.com/office/officeart/2005/8/layout/vList3"/>
    <dgm:cxn modelId="{524A99D0-A6F4-4635-9355-F27082177264}" type="presParOf" srcId="{59B18C6E-4990-4E26-84E2-FE5349D528ED}" destId="{8C1B2E6E-2DBD-4902-9ABB-4493B42F489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F3EB01-0D6C-481C-A641-8BAEC37843C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5F967A2-35CA-45D5-A0B2-6F73135B72E9}">
      <dgm:prSet phldrT="[Text]" custT="1"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pPr algn="ctr">
            <a:buNone/>
          </a:pPr>
          <a:r>
            <a:rPr lang="en-IN" sz="1500" b="1" dirty="0"/>
            <a:t>Context-Aware Answers</a:t>
          </a:r>
        </a:p>
        <a:p>
          <a:pPr algn="ctr">
            <a:buNone/>
          </a:pPr>
          <a:r>
            <a:rPr lang="en-US" sz="1200" dirty="0"/>
            <a:t>Provide source-based answers with proper context and citations.</a:t>
          </a:r>
          <a:endParaRPr lang="en-IN" sz="1200" dirty="0"/>
        </a:p>
      </dgm:t>
    </dgm:pt>
    <dgm:pt modelId="{A4D6926A-6F7C-4CC6-B2DE-301F398521DE}" type="parTrans" cxnId="{E1A836A0-0CE3-4787-B089-921C9CAD1F7C}">
      <dgm:prSet/>
      <dgm:spPr/>
      <dgm:t>
        <a:bodyPr/>
        <a:lstStyle/>
        <a:p>
          <a:endParaRPr lang="en-IN"/>
        </a:p>
      </dgm:t>
    </dgm:pt>
    <dgm:pt modelId="{89FC5D20-5144-4939-B93F-CAB5C5102C4D}" type="sibTrans" cxnId="{E1A836A0-0CE3-4787-B089-921C9CAD1F7C}">
      <dgm:prSet/>
      <dgm:spPr/>
      <dgm:t>
        <a:bodyPr/>
        <a:lstStyle/>
        <a:p>
          <a:endParaRPr lang="en-IN"/>
        </a:p>
      </dgm:t>
    </dgm:pt>
    <dgm:pt modelId="{766DCD23-321A-4E87-A8D2-6B59B1AB9C2C}" type="pres">
      <dgm:prSet presAssocID="{1CF3EB01-0D6C-481C-A641-8BAEC37843C3}" presName="linearFlow" presStyleCnt="0">
        <dgm:presLayoutVars>
          <dgm:dir/>
          <dgm:resizeHandles val="exact"/>
        </dgm:presLayoutVars>
      </dgm:prSet>
      <dgm:spPr/>
    </dgm:pt>
    <dgm:pt modelId="{59B18C6E-4990-4E26-84E2-FE5349D528ED}" type="pres">
      <dgm:prSet presAssocID="{45F967A2-35CA-45D5-A0B2-6F73135B72E9}" presName="composite" presStyleCnt="0"/>
      <dgm:spPr/>
    </dgm:pt>
    <dgm:pt modelId="{6C94ED6A-5576-4CDA-9007-0828F48C4FEC}" type="pres">
      <dgm:prSet presAssocID="{45F967A2-35CA-45D5-A0B2-6F73135B72E9}" presName="imgShp" presStyleLbl="fgImgPlace1" presStyleIdx="0" presStyleCnt="1" custLinFactNeighborX="-18062"/>
      <dgm:spPr>
        <a:blipFill>
          <a:blip xmlns:r="http://schemas.openxmlformats.org/officeDocument/2006/relationships" r:embed="rId1"/>
          <a:srcRect/>
          <a:stretch>
            <a:fillRect l="-38000" r="-38000"/>
          </a:stretch>
        </a:blipFill>
        <a:ln>
          <a:solidFill>
            <a:schemeClr val="bg1"/>
          </a:solidFill>
        </a:ln>
      </dgm:spPr>
    </dgm:pt>
    <dgm:pt modelId="{8C1B2E6E-2DBD-4902-9ABB-4493B42F4893}" type="pres">
      <dgm:prSet presAssocID="{45F967A2-35CA-45D5-A0B2-6F73135B72E9}" presName="txShp" presStyleLbl="node1" presStyleIdx="0" presStyleCnt="1" custScaleX="119367" custLinFactNeighborX="1919" custLinFactNeighborY="1642">
        <dgm:presLayoutVars>
          <dgm:bulletEnabled val="1"/>
        </dgm:presLayoutVars>
      </dgm:prSet>
      <dgm:spPr/>
    </dgm:pt>
  </dgm:ptLst>
  <dgm:cxnLst>
    <dgm:cxn modelId="{22819D03-FF14-4BE3-B43C-303A3236A348}" type="presOf" srcId="{1CF3EB01-0D6C-481C-A641-8BAEC37843C3}" destId="{766DCD23-321A-4E87-A8D2-6B59B1AB9C2C}" srcOrd="0" destOrd="0" presId="urn:microsoft.com/office/officeart/2005/8/layout/vList3"/>
    <dgm:cxn modelId="{765A411E-9ED9-4F79-A5B0-B3F49E6D722B}" type="presOf" srcId="{45F967A2-35CA-45D5-A0B2-6F73135B72E9}" destId="{8C1B2E6E-2DBD-4902-9ABB-4493B42F4893}" srcOrd="0" destOrd="0" presId="urn:microsoft.com/office/officeart/2005/8/layout/vList3"/>
    <dgm:cxn modelId="{E1A836A0-0CE3-4787-B089-921C9CAD1F7C}" srcId="{1CF3EB01-0D6C-481C-A641-8BAEC37843C3}" destId="{45F967A2-35CA-45D5-A0B2-6F73135B72E9}" srcOrd="0" destOrd="0" parTransId="{A4D6926A-6F7C-4CC6-B2DE-301F398521DE}" sibTransId="{89FC5D20-5144-4939-B93F-CAB5C5102C4D}"/>
    <dgm:cxn modelId="{71908D34-36D7-4712-B07C-05BFC2EB2241}" type="presParOf" srcId="{766DCD23-321A-4E87-A8D2-6B59B1AB9C2C}" destId="{59B18C6E-4990-4E26-84E2-FE5349D528ED}" srcOrd="0" destOrd="0" presId="urn:microsoft.com/office/officeart/2005/8/layout/vList3"/>
    <dgm:cxn modelId="{4E18ACFA-87C8-4AEE-9A61-61DF3DDFC408}" type="presParOf" srcId="{59B18C6E-4990-4E26-84E2-FE5349D528ED}" destId="{6C94ED6A-5576-4CDA-9007-0828F48C4FEC}" srcOrd="0" destOrd="0" presId="urn:microsoft.com/office/officeart/2005/8/layout/vList3"/>
    <dgm:cxn modelId="{524A99D0-A6F4-4635-9355-F27082177264}" type="presParOf" srcId="{59B18C6E-4990-4E26-84E2-FE5349D528ED}" destId="{8C1B2E6E-2DBD-4902-9ABB-4493B42F489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F3EB01-0D6C-481C-A641-8BAEC37843C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5F967A2-35CA-45D5-A0B2-6F73135B72E9}">
      <dgm:prSet phldrT="[Text]" custT="1"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pPr algn="ctr">
            <a:buNone/>
          </a:pPr>
          <a:r>
            <a:rPr lang="en-IN" sz="1500" b="1" dirty="0"/>
            <a:t>Reduced Manual Effort</a:t>
          </a:r>
        </a:p>
        <a:p>
          <a:pPr algn="ctr">
            <a:buNone/>
          </a:pPr>
          <a:r>
            <a:rPr lang="en-US" sz="1200" dirty="0"/>
            <a:t>Minimize time spent on legal research and document analysis tasks.</a:t>
          </a:r>
          <a:endParaRPr lang="en-IN" sz="1200" dirty="0"/>
        </a:p>
      </dgm:t>
    </dgm:pt>
    <dgm:pt modelId="{A4D6926A-6F7C-4CC6-B2DE-301F398521DE}" type="parTrans" cxnId="{E1A836A0-0CE3-4787-B089-921C9CAD1F7C}">
      <dgm:prSet/>
      <dgm:spPr/>
      <dgm:t>
        <a:bodyPr/>
        <a:lstStyle/>
        <a:p>
          <a:endParaRPr lang="en-IN"/>
        </a:p>
      </dgm:t>
    </dgm:pt>
    <dgm:pt modelId="{89FC5D20-5144-4939-B93F-CAB5C5102C4D}" type="sibTrans" cxnId="{E1A836A0-0CE3-4787-B089-921C9CAD1F7C}">
      <dgm:prSet/>
      <dgm:spPr/>
      <dgm:t>
        <a:bodyPr/>
        <a:lstStyle/>
        <a:p>
          <a:endParaRPr lang="en-IN"/>
        </a:p>
      </dgm:t>
    </dgm:pt>
    <dgm:pt modelId="{766DCD23-321A-4E87-A8D2-6B59B1AB9C2C}" type="pres">
      <dgm:prSet presAssocID="{1CF3EB01-0D6C-481C-A641-8BAEC37843C3}" presName="linearFlow" presStyleCnt="0">
        <dgm:presLayoutVars>
          <dgm:dir/>
          <dgm:resizeHandles val="exact"/>
        </dgm:presLayoutVars>
      </dgm:prSet>
      <dgm:spPr/>
    </dgm:pt>
    <dgm:pt modelId="{59B18C6E-4990-4E26-84E2-FE5349D528ED}" type="pres">
      <dgm:prSet presAssocID="{45F967A2-35CA-45D5-A0B2-6F73135B72E9}" presName="composite" presStyleCnt="0"/>
      <dgm:spPr/>
    </dgm:pt>
    <dgm:pt modelId="{6C94ED6A-5576-4CDA-9007-0828F48C4FEC}" type="pres">
      <dgm:prSet presAssocID="{45F967A2-35CA-45D5-A0B2-6F73135B72E9}" presName="imgShp" presStyleLbl="fgImgPlace1" presStyleIdx="0" presStyleCnt="1" custLinFactNeighborX="-18062"/>
      <dgm:spPr>
        <a:blipFill>
          <a:blip xmlns:r="http://schemas.openxmlformats.org/officeDocument/2006/relationships" r:embed="rId1"/>
          <a:srcRect/>
          <a:stretch>
            <a:fillRect l="-38000" r="-38000"/>
          </a:stretch>
        </a:blipFill>
      </dgm:spPr>
    </dgm:pt>
    <dgm:pt modelId="{8C1B2E6E-2DBD-4902-9ABB-4493B42F4893}" type="pres">
      <dgm:prSet presAssocID="{45F967A2-35CA-45D5-A0B2-6F73135B72E9}" presName="txShp" presStyleLbl="node1" presStyleIdx="0" presStyleCnt="1" custScaleX="119367" custLinFactNeighborX="1919" custLinFactNeighborY="1642">
        <dgm:presLayoutVars>
          <dgm:bulletEnabled val="1"/>
        </dgm:presLayoutVars>
      </dgm:prSet>
      <dgm:spPr/>
    </dgm:pt>
  </dgm:ptLst>
  <dgm:cxnLst>
    <dgm:cxn modelId="{22819D03-FF14-4BE3-B43C-303A3236A348}" type="presOf" srcId="{1CF3EB01-0D6C-481C-A641-8BAEC37843C3}" destId="{766DCD23-321A-4E87-A8D2-6B59B1AB9C2C}" srcOrd="0" destOrd="0" presId="urn:microsoft.com/office/officeart/2005/8/layout/vList3"/>
    <dgm:cxn modelId="{765A411E-9ED9-4F79-A5B0-B3F49E6D722B}" type="presOf" srcId="{45F967A2-35CA-45D5-A0B2-6F73135B72E9}" destId="{8C1B2E6E-2DBD-4902-9ABB-4493B42F4893}" srcOrd="0" destOrd="0" presId="urn:microsoft.com/office/officeart/2005/8/layout/vList3"/>
    <dgm:cxn modelId="{E1A836A0-0CE3-4787-B089-921C9CAD1F7C}" srcId="{1CF3EB01-0D6C-481C-A641-8BAEC37843C3}" destId="{45F967A2-35CA-45D5-A0B2-6F73135B72E9}" srcOrd="0" destOrd="0" parTransId="{A4D6926A-6F7C-4CC6-B2DE-301F398521DE}" sibTransId="{89FC5D20-5144-4939-B93F-CAB5C5102C4D}"/>
    <dgm:cxn modelId="{71908D34-36D7-4712-B07C-05BFC2EB2241}" type="presParOf" srcId="{766DCD23-321A-4E87-A8D2-6B59B1AB9C2C}" destId="{59B18C6E-4990-4E26-84E2-FE5349D528ED}" srcOrd="0" destOrd="0" presId="urn:microsoft.com/office/officeart/2005/8/layout/vList3"/>
    <dgm:cxn modelId="{4E18ACFA-87C8-4AEE-9A61-61DF3DDFC408}" type="presParOf" srcId="{59B18C6E-4990-4E26-84E2-FE5349D528ED}" destId="{6C94ED6A-5576-4CDA-9007-0828F48C4FEC}" srcOrd="0" destOrd="0" presId="urn:microsoft.com/office/officeart/2005/8/layout/vList3"/>
    <dgm:cxn modelId="{524A99D0-A6F4-4635-9355-F27082177264}" type="presParOf" srcId="{59B18C6E-4990-4E26-84E2-FE5349D528ED}" destId="{8C1B2E6E-2DBD-4902-9ABB-4493B42F489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B2E6E-2DBD-4902-9ABB-4493B42F4893}">
      <dsp:nvSpPr>
        <dsp:cNvPr id="0" name=""/>
        <dsp:cNvSpPr/>
      </dsp:nvSpPr>
      <dsp:spPr>
        <a:xfrm rot="10800000">
          <a:off x="650826" y="460023"/>
          <a:ext cx="3085802" cy="1302287"/>
        </a:xfrm>
        <a:prstGeom prst="homePlate">
          <a:avLst/>
        </a:pr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427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Efficient Analysis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Develop a system that analyzes legal documents efficiently and accurately.</a:t>
          </a:r>
          <a:endParaRPr lang="en-IN" sz="1200" kern="1200" dirty="0"/>
        </a:p>
      </dsp:txBody>
      <dsp:txXfrm rot="10800000">
        <a:off x="976398" y="460023"/>
        <a:ext cx="2760230" cy="1302287"/>
      </dsp:txXfrm>
    </dsp:sp>
    <dsp:sp modelId="{6C94ED6A-5576-4CDA-9007-0828F48C4FEC}">
      <dsp:nvSpPr>
        <dsp:cNvPr id="0" name=""/>
        <dsp:cNvSpPr/>
      </dsp:nvSpPr>
      <dsp:spPr>
        <a:xfrm>
          <a:off x="0" y="438639"/>
          <a:ext cx="1302287" cy="1302287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8000" r="-3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B2E6E-2DBD-4902-9ABB-4493B42F4893}">
      <dsp:nvSpPr>
        <dsp:cNvPr id="0" name=""/>
        <dsp:cNvSpPr/>
      </dsp:nvSpPr>
      <dsp:spPr>
        <a:xfrm rot="10800000">
          <a:off x="650826" y="460023"/>
          <a:ext cx="3085802" cy="1302287"/>
        </a:xfrm>
        <a:prstGeom prst="homePlate">
          <a:avLst/>
        </a:pr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427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RAG Integration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Improve answer accuracy using Retrieval-Augmented Generation framework.</a:t>
          </a:r>
          <a:endParaRPr lang="en-IN" sz="1200" kern="1200" dirty="0"/>
        </a:p>
      </dsp:txBody>
      <dsp:txXfrm rot="10800000">
        <a:off x="976398" y="460023"/>
        <a:ext cx="2760230" cy="1302287"/>
      </dsp:txXfrm>
    </dsp:sp>
    <dsp:sp modelId="{6C94ED6A-5576-4CDA-9007-0828F48C4FEC}">
      <dsp:nvSpPr>
        <dsp:cNvPr id="0" name=""/>
        <dsp:cNvSpPr/>
      </dsp:nvSpPr>
      <dsp:spPr>
        <a:xfrm>
          <a:off x="0" y="438639"/>
          <a:ext cx="1302287" cy="1302287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8000" r="-3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B2E6E-2DBD-4902-9ABB-4493B42F4893}">
      <dsp:nvSpPr>
        <dsp:cNvPr id="0" name=""/>
        <dsp:cNvSpPr/>
      </dsp:nvSpPr>
      <dsp:spPr>
        <a:xfrm rot="10800000">
          <a:off x="650508" y="460638"/>
          <a:ext cx="3085802" cy="1301015"/>
        </a:xfrm>
        <a:prstGeom prst="homePlate">
          <a:avLst/>
        </a:pr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371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Smart Q&amp;A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Enable question-answering based on uploaded legal documents using natural language.</a:t>
          </a:r>
          <a:endParaRPr lang="en-IN" sz="1200" kern="1200" dirty="0"/>
        </a:p>
      </dsp:txBody>
      <dsp:txXfrm rot="10800000">
        <a:off x="975762" y="460638"/>
        <a:ext cx="2760548" cy="1301015"/>
      </dsp:txXfrm>
    </dsp:sp>
    <dsp:sp modelId="{6C94ED6A-5576-4CDA-9007-0828F48C4FEC}">
      <dsp:nvSpPr>
        <dsp:cNvPr id="0" name=""/>
        <dsp:cNvSpPr/>
      </dsp:nvSpPr>
      <dsp:spPr>
        <a:xfrm>
          <a:off x="0" y="439275"/>
          <a:ext cx="1301015" cy="130101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8000" r="-3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B2E6E-2DBD-4902-9ABB-4493B42F4893}">
      <dsp:nvSpPr>
        <dsp:cNvPr id="0" name=""/>
        <dsp:cNvSpPr/>
      </dsp:nvSpPr>
      <dsp:spPr>
        <a:xfrm rot="10800000">
          <a:off x="650826" y="460023"/>
          <a:ext cx="3085802" cy="1302287"/>
        </a:xfrm>
        <a:prstGeom prst="homePlate">
          <a:avLst/>
        </a:pr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427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Context-Aware Answers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Provide source-based answers with proper context and citations.</a:t>
          </a:r>
          <a:endParaRPr lang="en-IN" sz="1200" kern="1200" dirty="0"/>
        </a:p>
      </dsp:txBody>
      <dsp:txXfrm rot="10800000">
        <a:off x="976398" y="460023"/>
        <a:ext cx="2760230" cy="1302287"/>
      </dsp:txXfrm>
    </dsp:sp>
    <dsp:sp modelId="{6C94ED6A-5576-4CDA-9007-0828F48C4FEC}">
      <dsp:nvSpPr>
        <dsp:cNvPr id="0" name=""/>
        <dsp:cNvSpPr/>
      </dsp:nvSpPr>
      <dsp:spPr>
        <a:xfrm>
          <a:off x="0" y="438639"/>
          <a:ext cx="1302287" cy="1302287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8000" r="-38000"/>
          </a:stretch>
        </a:blip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B2E6E-2DBD-4902-9ABB-4493B42F4893}">
      <dsp:nvSpPr>
        <dsp:cNvPr id="0" name=""/>
        <dsp:cNvSpPr/>
      </dsp:nvSpPr>
      <dsp:spPr>
        <a:xfrm rot="10800000">
          <a:off x="650508" y="460638"/>
          <a:ext cx="3085802" cy="1301015"/>
        </a:xfrm>
        <a:prstGeom prst="homePlate">
          <a:avLst/>
        </a:pr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371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Reduced Manual Effort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Minimize time spent on legal research and document analysis tasks.</a:t>
          </a:r>
          <a:endParaRPr lang="en-IN" sz="1200" kern="1200" dirty="0"/>
        </a:p>
      </dsp:txBody>
      <dsp:txXfrm rot="10800000">
        <a:off x="975762" y="460638"/>
        <a:ext cx="2760548" cy="1301015"/>
      </dsp:txXfrm>
    </dsp:sp>
    <dsp:sp modelId="{6C94ED6A-5576-4CDA-9007-0828F48C4FEC}">
      <dsp:nvSpPr>
        <dsp:cNvPr id="0" name=""/>
        <dsp:cNvSpPr/>
      </dsp:nvSpPr>
      <dsp:spPr>
        <a:xfrm>
          <a:off x="0" y="439275"/>
          <a:ext cx="1301015" cy="130101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8000" r="-3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2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3417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B60B1-BEF5-4848-BB02-98EBFE355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1158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7DC18506-6205-438F-AA5C-D337F9975FC3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757381" y="2591662"/>
            <a:ext cx="10667999" cy="2833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927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FD563C5-3DFB-47DD-8A9E-30D8084590F6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762001" y="2369129"/>
            <a:ext cx="10667998" cy="3343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26" Type="http://schemas.openxmlformats.org/officeDocument/2006/relationships/diagramColors" Target="../diagrams/colors5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diagramQuickStyle" Target="../diagrams/quickStyle5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24" Type="http://schemas.openxmlformats.org/officeDocument/2006/relationships/diagramLayout" Target="../diagrams/layout5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diagramData" Target="../diagrams/data5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Relationship Id="rId27" Type="http://schemas.microsoft.com/office/2007/relationships/diagramDrawing" Target="../diagrams/drawing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AC0D3D6-769F-F584-FD04-27721730112F}"/>
              </a:ext>
            </a:extLst>
          </p:cNvPr>
          <p:cNvSpPr/>
          <p:nvPr/>
        </p:nvSpPr>
        <p:spPr>
          <a:xfrm>
            <a:off x="-582803" y="-432079"/>
            <a:ext cx="13515032" cy="74357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465EBDFC-477F-769B-8CB9-15A50008E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0"/>
            <a:ext cx="9141397" cy="1308050"/>
          </a:xfrm>
        </p:spPr>
        <p:txBody>
          <a:bodyPr/>
          <a:lstStyle/>
          <a:p>
            <a:pPr lvl="0" eaLnBrk="0" fontAlgn="base" hangingPunct="0"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SREE VENKATESWARA COLLEGE OF ENGINEERING</a:t>
            </a:r>
            <a:br>
              <a:rPr lang="en-US" alt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(An UGC Autonomous Institution)</a:t>
            </a:r>
            <a:br>
              <a:rPr lang="en-US" alt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NAAC ‘A’ Grade Accredited Institution, An ISO 9001: 2015 Certified Institution</a:t>
            </a:r>
            <a:br>
              <a:rPr lang="en-US" alt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(Approved by AICTE, New Delhi and Affiliated to </a:t>
            </a:r>
            <a:r>
              <a:rPr lang="en-US" altLang="en-US" sz="15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JNTU,Anantapur</a:t>
            </a:r>
            <a:r>
              <a:rPr lang="en-US" alt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US" alt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5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Northrajupalem</a:t>
            </a:r>
            <a:r>
              <a:rPr lang="en-US" alt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(Vi), </a:t>
            </a:r>
            <a:r>
              <a:rPr lang="en-US" altLang="en-US" sz="15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Kodavaluru</a:t>
            </a:r>
            <a:r>
              <a:rPr lang="en-US" alt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(M), S.P.S.R Nellore (Dt)-524316</a:t>
            </a:r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24" name="Title 20">
            <a:extLst>
              <a:ext uri="{FF2B5EF4-FFF2-40B4-BE49-F238E27FC236}">
                <a16:creationId xmlns:a16="http://schemas.microsoft.com/office/drawing/2014/main" id="{8F89946C-6F64-0413-FD18-483F25BA5BA8}"/>
              </a:ext>
            </a:extLst>
          </p:cNvPr>
          <p:cNvSpPr txBox="1">
            <a:spLocks/>
          </p:cNvSpPr>
          <p:nvPr/>
        </p:nvSpPr>
        <p:spPr>
          <a:xfrm>
            <a:off x="2394370" y="2925606"/>
            <a:ext cx="7846141" cy="176971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fontAlgn="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fontAlgn="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on</a:t>
            </a:r>
          </a:p>
          <a:p>
            <a:pPr fontAlgn="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 Analysis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Q&amp;A Using RAG Framework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b="0" dirty="0">
              <a:solidFill>
                <a:schemeClr val="bg1"/>
              </a:solidFill>
            </a:endParaRPr>
          </a:p>
        </p:txBody>
      </p:sp>
      <p:sp>
        <p:nvSpPr>
          <p:cNvPr id="27" name="Title 20">
            <a:extLst>
              <a:ext uri="{FF2B5EF4-FFF2-40B4-BE49-F238E27FC236}">
                <a16:creationId xmlns:a16="http://schemas.microsoft.com/office/drawing/2014/main" id="{255EF858-2A1A-CF95-845C-FE6157B2463A}"/>
              </a:ext>
            </a:extLst>
          </p:cNvPr>
          <p:cNvSpPr txBox="1">
            <a:spLocks/>
          </p:cNvSpPr>
          <p:nvPr/>
        </p:nvSpPr>
        <p:spPr>
          <a:xfrm>
            <a:off x="1525301" y="5649944"/>
            <a:ext cx="3267924" cy="923330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 defTabSz="914400" eaLnBrk="0" hangingPunct="0"/>
            <a:r>
              <a:rPr lang="en-US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lvl="0" defTabSz="914400" eaLnBrk="0" hangingPunct="0"/>
            <a:r>
              <a:rPr lang="en-US" sz="1500" dirty="0" err="1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Mr.O.DEVANANDH</a:t>
            </a:r>
            <a:r>
              <a:rPr lang="en-US" sz="1500" dirty="0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1500" dirty="0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0" defTabSz="914400" eaLnBrk="0" hangingPunct="0"/>
            <a:r>
              <a:rPr lang="en-US" sz="1500" dirty="0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eaLnBrk="0" hangingPunct="0"/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AI&amp;ML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itle 20">
            <a:extLst>
              <a:ext uri="{FF2B5EF4-FFF2-40B4-BE49-F238E27FC236}">
                <a16:creationId xmlns:a16="http://schemas.microsoft.com/office/drawing/2014/main" id="{0B57CC0A-637F-B235-5002-B28AA5DE45EE}"/>
              </a:ext>
            </a:extLst>
          </p:cNvPr>
          <p:cNvSpPr txBox="1">
            <a:spLocks/>
          </p:cNvSpPr>
          <p:nvPr/>
        </p:nvSpPr>
        <p:spPr>
          <a:xfrm>
            <a:off x="7249916" y="5649944"/>
            <a:ext cx="3267924" cy="923330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 defTabSz="914400" eaLnBrk="0" hangingPunct="0"/>
            <a:r>
              <a:rPr lang="en-US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</a:p>
          <a:p>
            <a:pPr lvl="0" defTabSz="914400" eaLnBrk="0" hangingPunct="0"/>
            <a:r>
              <a:rPr lang="en-US" sz="1500" dirty="0" err="1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A.Asha</a:t>
            </a:r>
            <a:r>
              <a:rPr lang="en-US" sz="1500" dirty="0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Kiran,M.Tech</a:t>
            </a:r>
            <a:r>
              <a:rPr lang="en-US" sz="1500" dirty="0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(PhD) </a:t>
            </a:r>
          </a:p>
          <a:p>
            <a:pPr lvl="0" defTabSz="914400" eaLnBrk="0" hangingPunct="0"/>
            <a:r>
              <a:rPr lang="en-US" sz="1500" dirty="0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eaLnBrk="0" hangingPunct="0"/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AI&amp;ML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F2DC384-85A1-4504-EEED-EA18BEF6A87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3791" y="184387"/>
            <a:ext cx="1103020" cy="1103020"/>
          </a:xfrm>
          <a:prstGeom prst="rect">
            <a:avLst/>
          </a:prstGeom>
          <a:noFill/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CE27683-DCD5-042D-3443-623F07EA26D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19069" y="-45585"/>
            <a:ext cx="1433748" cy="158924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itle 20">
            <a:extLst>
              <a:ext uri="{FF2B5EF4-FFF2-40B4-BE49-F238E27FC236}">
                <a16:creationId xmlns:a16="http://schemas.microsoft.com/office/drawing/2014/main" id="{DF0F85AD-8DE0-C7C7-A1D4-A7A42EAA414D}"/>
              </a:ext>
            </a:extLst>
          </p:cNvPr>
          <p:cNvSpPr txBox="1">
            <a:spLocks/>
          </p:cNvSpPr>
          <p:nvPr/>
        </p:nvSpPr>
        <p:spPr>
          <a:xfrm>
            <a:off x="1619718" y="1624734"/>
            <a:ext cx="9046980" cy="69249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fontAlgn="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MACHINE LEARNING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639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2865" y="1386348"/>
            <a:ext cx="7048500" cy="4624711"/>
          </a:xfrm>
        </p:spPr>
        <p:txBody>
          <a:bodyPr anchor="ctr">
            <a:noAutofit/>
          </a:bodyPr>
          <a:lstStyle/>
          <a:p>
            <a:pPr algn="ctr" fontAlgn="t"/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T.V.SUJAN KUMAR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(22JN1A3359)</a:t>
            </a:r>
            <a:b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T.BHASKAR REDDY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(22JN1A3304)</a:t>
            </a:r>
            <a:b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S.NICHITHA         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(22JN1A3356)</a:t>
            </a:r>
            <a:b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K.V.CHANDANA  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(22JN1A3321)</a:t>
            </a:r>
            <a:b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T.LEELA MADHAVI       (22JN1A3358)</a:t>
            </a:r>
            <a:b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P.RANJITH KUMAR	(22JN1A3343)</a:t>
            </a:r>
            <a:br>
              <a:rPr lang="en-IN" sz="1800" b="0" dirty="0"/>
            </a:br>
            <a:br>
              <a:rPr lang="en-IN" sz="1800" b="0" dirty="0"/>
            </a:b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DB840-1A06-137D-D6FA-910281CE3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68477"/>
            <a:ext cx="6477000" cy="1189038"/>
          </a:xfrm>
        </p:spPr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800" y="1501876"/>
            <a:ext cx="6798129" cy="422049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Complexity Challenge:</a:t>
            </a:r>
          </a:p>
          <a:p>
            <a:r>
              <a:rPr lang="en-US" sz="2000" b="0" dirty="0">
                <a:latin typeface="+mj-lt"/>
                <a:cs typeface="Times New Roman" panose="02020603050405020304" pitchFamily="18" charset="0"/>
              </a:rPr>
              <a:t>Legal documents like contracts, judgments, and acts are lengthy and complex to navigate.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Time-Consuming Research:</a:t>
            </a:r>
          </a:p>
          <a:p>
            <a:r>
              <a:rPr lang="en-US" sz="2000" b="0" dirty="0">
                <a:latin typeface="+mj-lt"/>
                <a:cs typeface="Times New Roman" panose="02020603050405020304" pitchFamily="18" charset="0"/>
              </a:rPr>
              <a:t>Manual reading and searching is inefficient and drains valuable time.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Limited Context Understanding:</a:t>
            </a:r>
          </a:p>
          <a:p>
            <a:r>
              <a:rPr lang="en-US" sz="2000" b="0" dirty="0">
                <a:latin typeface="+mj-lt"/>
                <a:cs typeface="Times New Roman" panose="02020603050405020304" pitchFamily="18" charset="0"/>
              </a:rPr>
              <a:t>Traditional keyword search systems lack contextual understanding and accuracy.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AI Hallucination Risk:</a:t>
            </a:r>
          </a:p>
          <a:p>
            <a:r>
              <a:rPr lang="en-US" sz="2000" b="0" dirty="0">
                <a:latin typeface="+mj-lt"/>
                <a:cs typeface="Times New Roman" panose="02020603050405020304" pitchFamily="18" charset="0"/>
              </a:rPr>
              <a:t>Existing AI models may generate incorrect or hallucinated answers without proper grounding.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D0928-A229-70BE-8A8B-FEC36403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522" y="0"/>
            <a:ext cx="47784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669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810505"/>
            <a:ext cx="10591800" cy="646332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49F63D1-0CB3-2EF6-BEBE-C65A78EDE781}"/>
              </a:ext>
            </a:extLst>
          </p:cNvPr>
          <p:cNvSpPr txBox="1">
            <a:spLocks/>
          </p:cNvSpPr>
          <p:nvPr/>
        </p:nvSpPr>
        <p:spPr>
          <a:xfrm>
            <a:off x="3293807" y="1390734"/>
            <a:ext cx="7676536" cy="8111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n-US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0D10FA63-9FD6-5D33-2E9E-F2E3635CC5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0731954"/>
              </p:ext>
            </p:extLst>
          </p:nvPr>
        </p:nvGraphicFramePr>
        <p:xfrm>
          <a:off x="103241" y="1210935"/>
          <a:ext cx="3887426" cy="2179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59D6F3A9-D749-E581-EDCE-2F0A86F169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7007661"/>
              </p:ext>
            </p:extLst>
          </p:nvPr>
        </p:nvGraphicFramePr>
        <p:xfrm>
          <a:off x="4152287" y="2249631"/>
          <a:ext cx="3887426" cy="2179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DA8C61EF-36DB-AC48-1BA1-22E3389B36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8516591"/>
              </p:ext>
            </p:extLst>
          </p:nvPr>
        </p:nvGraphicFramePr>
        <p:xfrm>
          <a:off x="127820" y="3390502"/>
          <a:ext cx="3887426" cy="2179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0EEDC4A0-2645-5F47-69F6-99D8E64BA1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2888747"/>
              </p:ext>
            </p:extLst>
          </p:nvPr>
        </p:nvGraphicFramePr>
        <p:xfrm>
          <a:off x="8201333" y="3390501"/>
          <a:ext cx="3887426" cy="2179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68893389-AFC6-ED7A-40DB-C6F78A6289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2940238"/>
              </p:ext>
            </p:extLst>
          </p:nvPr>
        </p:nvGraphicFramePr>
        <p:xfrm>
          <a:off x="8176755" y="1210935"/>
          <a:ext cx="3887426" cy="2179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</p:spTree>
    <p:extLst>
      <p:ext uri="{BB962C8B-B14F-4D97-AF65-F5344CB8AC3E}">
        <p14:creationId xmlns:p14="http://schemas.microsoft.com/office/powerpoint/2010/main" val="295767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rrow: Right 8">
            <a:extLst>
              <a:ext uri="{FF2B5EF4-FFF2-40B4-BE49-F238E27FC236}">
                <a16:creationId xmlns:a16="http://schemas.microsoft.com/office/drawing/2014/main" id="{9DEEC8CD-DF61-0A84-7589-B440BA885608}"/>
              </a:ext>
            </a:extLst>
          </p:cNvPr>
          <p:cNvSpPr/>
          <p:nvPr/>
        </p:nvSpPr>
        <p:spPr>
          <a:xfrm>
            <a:off x="884903" y="4404323"/>
            <a:ext cx="5919020" cy="8008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7900479-AB02-0372-7DEF-3491A5D23D7D}"/>
              </a:ext>
            </a:extLst>
          </p:cNvPr>
          <p:cNvSpPr/>
          <p:nvPr/>
        </p:nvSpPr>
        <p:spPr>
          <a:xfrm>
            <a:off x="884902" y="3387866"/>
            <a:ext cx="4729317" cy="8008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80EC483-268C-5D89-C2C9-00C388200E10}"/>
              </a:ext>
            </a:extLst>
          </p:cNvPr>
          <p:cNvSpPr/>
          <p:nvPr/>
        </p:nvSpPr>
        <p:spPr>
          <a:xfrm>
            <a:off x="884902" y="2362867"/>
            <a:ext cx="3687098" cy="8008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B24B1AF-3DF2-732F-C79A-8DA761E16AE4}"/>
              </a:ext>
            </a:extLst>
          </p:cNvPr>
          <p:cNvSpPr/>
          <p:nvPr/>
        </p:nvSpPr>
        <p:spPr>
          <a:xfrm>
            <a:off x="884903" y="1348076"/>
            <a:ext cx="3077497" cy="8008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18C6B5-87AC-4DA5-94CA-6E092A6A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6088"/>
            <a:ext cx="10591800" cy="646332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Methodology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F52EDA-7F85-46DD-9A9E-95E0E3EC3F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4903" y="1500073"/>
            <a:ext cx="10667999" cy="2688594"/>
          </a:xfrm>
        </p:spPr>
        <p:txBody>
          <a:bodyPr/>
          <a:lstStyle/>
          <a:p>
            <a:r>
              <a:rPr lang="en-IN" sz="2500" b="1" dirty="0"/>
              <a:t>Upload Docs</a:t>
            </a:r>
          </a:p>
          <a:p>
            <a:endParaRPr lang="en-IN" sz="2500" b="1" dirty="0"/>
          </a:p>
          <a:p>
            <a:r>
              <a:rPr lang="en-IN" sz="2500" b="1" dirty="0"/>
              <a:t>Preprocess Text</a:t>
            </a:r>
          </a:p>
          <a:p>
            <a:endParaRPr lang="en-IN" sz="2500" b="1" dirty="0"/>
          </a:p>
          <a:p>
            <a:r>
              <a:rPr lang="en-IN" sz="2500" b="1" dirty="0"/>
              <a:t>Generate Embeddings</a:t>
            </a:r>
          </a:p>
          <a:p>
            <a:endParaRPr lang="en-IN" sz="2500" b="1" dirty="0"/>
          </a:p>
          <a:p>
            <a:r>
              <a:rPr lang="en-IN" sz="2500" b="1" dirty="0"/>
              <a:t>Store in </a:t>
            </a:r>
            <a:r>
              <a:rPr lang="en-IN" sz="2500" b="1" dirty="0" err="1"/>
              <a:t>VectorDB</a:t>
            </a:r>
            <a:endParaRPr lang="en-IN" sz="2500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7097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262CD5-AD01-42E3-9173-97C12BB0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749045"/>
          </a:xfrm>
        </p:spPr>
        <p:txBody>
          <a:bodyPr>
            <a:normAutofit fontScale="90000"/>
          </a:bodyPr>
          <a:lstStyle/>
          <a:p>
            <a:r>
              <a:rPr lang="en-US" dirty="0"/>
              <a:t>Languages Used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9585A-5E1F-40FA-8E64-BB4F046116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2" y="1619864"/>
            <a:ext cx="6477000" cy="32766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+mj-lt"/>
              </a:rPr>
              <a:t>Our RAG-based approach combines document retrieval with large language models to ensure accurate, grounded responses.</a:t>
            </a:r>
          </a:p>
          <a:p>
            <a:r>
              <a:rPr lang="en-IN" sz="2000" dirty="0">
                <a:latin typeface="+mj-lt"/>
              </a:rPr>
              <a:t>Python Core: </a:t>
            </a:r>
            <a:r>
              <a:rPr lang="en-IN" sz="2000" b="0" dirty="0">
                <a:latin typeface="+mj-lt"/>
              </a:rPr>
              <a:t>programming language</a:t>
            </a:r>
          </a:p>
          <a:p>
            <a:r>
              <a:rPr lang="en-IN" sz="2000" dirty="0">
                <a:latin typeface="+mj-lt"/>
              </a:rPr>
              <a:t>RAG Framework: </a:t>
            </a:r>
            <a:r>
              <a:rPr lang="en-IN" sz="2000" b="0" dirty="0">
                <a:latin typeface="+mj-lt"/>
              </a:rPr>
              <a:t>Retrieval-augmented generation</a:t>
            </a:r>
          </a:p>
          <a:p>
            <a:r>
              <a:rPr lang="en-IN" sz="2000" dirty="0" err="1">
                <a:latin typeface="+mj-lt"/>
              </a:rPr>
              <a:t>LangChain</a:t>
            </a:r>
            <a:r>
              <a:rPr lang="en-IN" sz="2000" dirty="0">
                <a:latin typeface="+mj-lt"/>
              </a:rPr>
              <a:t>: </a:t>
            </a:r>
            <a:r>
              <a:rPr lang="en-IN" sz="2000" b="0" dirty="0">
                <a:latin typeface="+mj-lt"/>
              </a:rPr>
              <a:t>LLM orchestration </a:t>
            </a:r>
          </a:p>
          <a:p>
            <a:r>
              <a:rPr lang="en-IN" sz="2000" dirty="0">
                <a:latin typeface="+mj-lt"/>
              </a:rPr>
              <a:t>Vector Database: </a:t>
            </a:r>
            <a:r>
              <a:rPr lang="en-IN" sz="2000" b="0" dirty="0">
                <a:latin typeface="+mj-lt"/>
              </a:rPr>
              <a:t>FAISS / </a:t>
            </a:r>
            <a:r>
              <a:rPr lang="en-IN" sz="2000" b="0" dirty="0" err="1">
                <a:latin typeface="+mj-lt"/>
              </a:rPr>
              <a:t>ChromaDB</a:t>
            </a:r>
            <a:endParaRPr lang="en-IN" sz="2000" b="0" dirty="0">
              <a:latin typeface="+mj-lt"/>
            </a:endParaRPr>
          </a:p>
          <a:p>
            <a:r>
              <a:rPr lang="en-IN" sz="2000" dirty="0">
                <a:latin typeface="+mj-lt"/>
              </a:rPr>
              <a:t>LLM: </a:t>
            </a:r>
            <a:r>
              <a:rPr lang="en-IN" sz="2000" b="0" dirty="0">
                <a:latin typeface="+mj-lt"/>
              </a:rPr>
              <a:t>Large language model</a:t>
            </a:r>
          </a:p>
          <a:p>
            <a:r>
              <a:rPr lang="en-IN" sz="2000" dirty="0">
                <a:latin typeface="+mj-lt"/>
              </a:rPr>
              <a:t>Embeddings: </a:t>
            </a:r>
            <a:r>
              <a:rPr lang="en-IN" sz="2000" b="0" dirty="0">
                <a:latin typeface="+mj-lt"/>
              </a:rPr>
              <a:t>Semantic search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478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8B51BF-780C-45D4-A1D0-32D55EA0F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401332"/>
            <a:ext cx="5334000" cy="1189038"/>
          </a:xfrm>
        </p:spPr>
        <p:txBody>
          <a:bodyPr/>
          <a:lstStyle/>
          <a:p>
            <a:r>
              <a:rPr lang="en-IN" dirty="0"/>
              <a:t>Results &amp; Outcome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A17D04F1-4318-4DD6-B27E-D66AE4D426B2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762000" y="1229033"/>
            <a:ext cx="10584426" cy="394273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100" dirty="0"/>
              <a:t>System Successfully Built</a:t>
            </a:r>
          </a:p>
          <a:p>
            <a:r>
              <a:rPr lang="en-US" sz="2100" b="0" dirty="0"/>
              <a:t>Fully functional legal document Q&amp;A system deployed and operational.</a:t>
            </a:r>
          </a:p>
          <a:p>
            <a:r>
              <a:rPr lang="en-US" sz="2100" dirty="0"/>
              <a:t>Accurate Context-Based Answers</a:t>
            </a:r>
          </a:p>
          <a:p>
            <a:r>
              <a:rPr lang="en-US" sz="2100" b="0" dirty="0"/>
              <a:t>System provides precise answers grounded in actual document content.</a:t>
            </a:r>
          </a:p>
          <a:p>
            <a:r>
              <a:rPr lang="en-US" sz="2100" dirty="0"/>
              <a:t>Reduced Hallucinations</a:t>
            </a:r>
          </a:p>
          <a:p>
            <a:r>
              <a:rPr lang="en-US" sz="2100" b="0" dirty="0"/>
              <a:t>Significantly fewer incorrect responses compared to standard LLMs.</a:t>
            </a:r>
          </a:p>
          <a:p>
            <a:r>
              <a:rPr lang="en-US" sz="2100" dirty="0"/>
              <a:t>Faster Information Retrieval</a:t>
            </a:r>
          </a:p>
          <a:p>
            <a:r>
              <a:rPr lang="en-US" sz="2100" b="0" dirty="0"/>
              <a:t>Quick access to relevant information from large legal document collections.</a:t>
            </a:r>
          </a:p>
          <a:p>
            <a:r>
              <a:rPr lang="en-US" sz="2100" dirty="0"/>
              <a:t>Natural Language Interface</a:t>
            </a:r>
          </a:p>
          <a:p>
            <a:r>
              <a:rPr lang="en-US" sz="2100" b="0" dirty="0"/>
              <a:t>Users interact with documents using simple, conversational questions.</a:t>
            </a:r>
          </a:p>
          <a:p>
            <a:endParaRPr lang="en-US" altLang="en-US" sz="2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55A33-65FD-607C-A3B2-A707A465D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36" y="3028336"/>
            <a:ext cx="400664" cy="4006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28B05D-4D1C-07DE-F964-D7273B26A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35" y="2137595"/>
            <a:ext cx="400665" cy="4006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C360B1-A9B3-E380-A4C0-61BD922F0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V="1">
            <a:off x="361335" y="1246854"/>
            <a:ext cx="400665" cy="4006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E7C3BB-8CD4-6546-CEDA-3759BA3CC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350581" y="3919076"/>
            <a:ext cx="494993" cy="4949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295092-5FF1-EA2F-936B-312A439209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101" y="4866966"/>
            <a:ext cx="361952" cy="361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2813447"/>
            <a:ext cx="9141397" cy="1077218"/>
          </a:xfrm>
        </p:spPr>
        <p:txBody>
          <a:bodyPr/>
          <a:lstStyle/>
          <a:p>
            <a:r>
              <a:rPr lang="en-US" sz="7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44761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wish American Heritage Month_Win32_JC_SL_v3" id="{5A91364D-DD38-4994-BB9C-41D074FD197A}" vid="{8577DF34-D72C-48EB-902A-0A54C766E0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F283A3-AA81-4663-8764-64F64C723FD1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15C1F8C-D27A-4CE7-9DF4-4AFDB2880F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EE2DFF-920A-42C9-AEE0-3A0BF6AF4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Jewish American Heritage Month presentation</Template>
  <TotalTime>690</TotalTime>
  <Words>454</Words>
  <Application>Microsoft Office PowerPoint</Application>
  <PresentationFormat>Widescreen</PresentationFormat>
  <Paragraphs>65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Wingdings</vt:lpstr>
      <vt:lpstr>Office Theme</vt:lpstr>
      <vt:lpstr>SREE VENKATESWARA COLLEGE OF ENGINEERING (An UGC Autonomous Institution) NAAC ‘A’ Grade Accredited Institution, An ISO 9001: 2015 Certified Institution (Approved by AICTE, New Delhi and Affiliated to JNTU,Anantapur) Northrajupalem (Vi), Kodavaluru(M), S.P.S.R Nellore (Dt)-524316</vt:lpstr>
      <vt:lpstr>Team Members   T.V.SUJAN KUMAR (22JN1A3359) T.BHASKAR REDDY (22JN1A3304) S.NICHITHA          (22JN1A3356) K.V.CHANDANA   (22JN1A3321) T.LEELA MADHAVI       (22JN1A3358) P.RANJITH KUMAR (22JN1A3343)  </vt:lpstr>
      <vt:lpstr>Problem Statement</vt:lpstr>
      <vt:lpstr>Objective</vt:lpstr>
      <vt:lpstr>Methodology</vt:lpstr>
      <vt:lpstr>Languages Used </vt:lpstr>
      <vt:lpstr>Results &amp; Outcome</vt:lpstr>
      <vt:lpstr>Thank you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sujan kumar</dc:creator>
  <cp:keywords/>
  <dc:description/>
  <cp:lastModifiedBy>sujan kumar</cp:lastModifiedBy>
  <cp:revision>2</cp:revision>
  <dcterms:created xsi:type="dcterms:W3CDTF">2026-01-29T17:54:38Z</dcterms:created>
  <dcterms:modified xsi:type="dcterms:W3CDTF">2026-01-30T05:24:56Z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